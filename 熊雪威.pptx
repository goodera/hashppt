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93" r:id="rId4"/>
    <p:sldId id="258" r:id="rId5"/>
    <p:sldId id="290" r:id="rId6"/>
    <p:sldId id="292" r:id="rId7"/>
    <p:sldId id="259" r:id="rId8"/>
    <p:sldId id="260" r:id="rId9"/>
    <p:sldId id="286" r:id="rId11"/>
    <p:sldId id="287" r:id="rId12"/>
    <p:sldId id="271" r:id="rId13"/>
    <p:sldId id="272" r:id="rId14"/>
    <p:sldId id="288" r:id="rId15"/>
    <p:sldId id="289" r:id="rId16"/>
    <p:sldId id="262" r:id="rId17"/>
    <p:sldId id="291" r:id="rId18"/>
    <p:sldId id="263" r:id="rId19"/>
    <p:sldId id="264" r:id="rId20"/>
    <p:sldId id="265" r:id="rId21"/>
    <p:sldId id="266" r:id="rId22"/>
    <p:sldId id="268" r:id="rId23"/>
    <p:sldId id="269" r:id="rId24"/>
    <p:sldId id="270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2049"/>
          <p:cNvSpPr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defRPr b="1" kern="12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 Rounded MT Bold" charset="0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副标题 2050"/>
          <p:cNvSpPr/>
          <p:nvPr>
            <p:ph type="subTitle" idx="1"/>
          </p:nvPr>
        </p:nvSpPr>
        <p:spPr>
          <a:xfrm>
            <a:off x="1828800" y="3886200"/>
            <a:ext cx="8534400" cy="1198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lstStyle>
            <a:lvl1pPr marL="0" lvl="0" indent="0" algn="ctr">
              <a:buNone/>
              <a:defRPr kern="1200">
                <a:solidFill>
                  <a:schemeClr val="bg1"/>
                </a:solidFill>
                <a:latin typeface="Arial Rounded MT Bold" charset="0"/>
                <a:ea typeface="黑体" panose="02010609060101010101" charset="-122"/>
              </a:defRPr>
            </a:lvl1pPr>
            <a:lvl2pPr marL="457200" lvl="1" indent="-457200" algn="ctr"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lvl="2" indent="-914400" algn="ctr"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lvl="3" indent="-1371600" algn="ctr"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lvl="4" indent="-1828800" algn="ctr"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2" name="日期占位符 2051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 dirty="0"/>
          </a:p>
        </p:txBody>
      </p:sp>
      <p:sp>
        <p:nvSpPr>
          <p:cNvPr id="2053" name="页脚占位符 2052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 dirty="0"/>
          </a:p>
        </p:txBody>
      </p:sp>
      <p:sp>
        <p:nvSpPr>
          <p:cNvPr id="2054" name="灯片编号占位符 2053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r>
              <a:rPr lang="de-DE" altLang="en-US" dirty="0"/>
              <a:t>Page </a:t>
            </a:r>
            <a:r>
              <a:rPr lang="de-DE" altLang="en-US" sz="1000" b="1" dirty="0">
                <a:sym typeface="MS UI Gothic" pitchFamily="2" charset="-128"/>
              </a:rPr>
              <a:t></a:t>
            </a:r>
            <a:r>
              <a:rPr lang="de-DE" altLang="en-US" sz="1000" b="1" dirty="0"/>
              <a:t> </a:t>
            </a:r>
            <a:fld id="{9A0DB2DC-4C9A-4742-B13C-FB6460FD3503}" type="slidenum">
              <a:rPr lang="zh-CN" altLang="en-US" sz="1000" b="1" dirty="0"/>
            </a:fld>
            <a:endParaRPr lang="zh-CN" altLang="en-US" sz="1000" b="1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r>
              <a:rPr lang="de-DE" altLang="en-US" dirty="0"/>
              <a:t>Page </a:t>
            </a:r>
            <a:r>
              <a:rPr lang="de-DE" altLang="en-US" sz="1000" b="1" dirty="0">
                <a:sym typeface="MS UI Gothic" pitchFamily="2" charset="-128"/>
              </a:rPr>
              <a:t></a:t>
            </a:r>
            <a:r>
              <a:rPr lang="de-DE" altLang="en-US" sz="1000" b="1" dirty="0"/>
              <a:t> </a:t>
            </a:r>
            <a:fld id="{9A0DB2DC-4C9A-4742-B13C-FB6460FD3503}" type="slidenum">
              <a:rPr lang="zh-CN" altLang="en-US" sz="1000" b="1" dirty="0"/>
            </a:fld>
            <a:endParaRPr lang="zh-CN" altLang="en-US" sz="1000" b="1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hangingPunct="1"/>
            <a:endParaRPr lang="zh-CN" altLang="en-US" dirty="0"/>
          </a:p>
        </p:txBody>
      </p:sp>
      <p:sp>
        <p:nvSpPr>
          <p:cNvPr id="1029" name="页脚占位符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hangingPunct="1"/>
            <a:endParaRPr lang="zh-CN" altLang="en-US" dirty="0"/>
          </a:p>
        </p:txBody>
      </p:sp>
      <p:sp>
        <p:nvSpPr>
          <p:cNvPr id="1030" name="灯片编号占位符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hash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-179070"/>
            <a:ext cx="12186920" cy="7056755"/>
          </a:xfrm>
          <a:prstGeom prst="rect">
            <a:avLst/>
          </a:prstGeom>
        </p:spPr>
      </p:pic>
      <p:sp>
        <p:nvSpPr>
          <p:cNvPr id="14" name="标题 13"/>
          <p:cNvSpPr/>
          <p:nvPr>
            <p:ph type="ctrTitle"/>
          </p:nvPr>
        </p:nvSpPr>
        <p:spPr>
          <a:xfrm>
            <a:off x="8910955" y="4714240"/>
            <a:ext cx="2943225" cy="1128395"/>
          </a:xfrm>
        </p:spPr>
        <p:txBody>
          <a:bodyPr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熊雪威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副标题 14"/>
          <p:cNvSpPr/>
          <p:nvPr>
            <p:ph type="subTitle" idx="1"/>
          </p:nvPr>
        </p:nvSpPr>
        <p:spPr>
          <a:xfrm>
            <a:off x="9351010" y="5842635"/>
            <a:ext cx="2063115" cy="869950"/>
          </a:xfrm>
        </p:spPr>
        <p:txBody>
          <a:bodyPr/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</a:rPr>
              <a:t>2019/11/6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大纲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1430" y="1534160"/>
            <a:ext cx="9825990" cy="4526280"/>
          </a:xfrm>
        </p:spPr>
        <p:txBody>
          <a:bodyPr/>
          <a:p>
            <a:pPr algn="l"/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 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一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算法概念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  二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算法特点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  三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算法原理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  四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常见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  五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算法应用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一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算法概念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925195" y="1600200"/>
            <a:ext cx="10235565" cy="4526280"/>
          </a:xfrm>
        </p:spPr>
        <p:txBody>
          <a:bodyPr/>
          <a:p>
            <a:r>
              <a:rPr lang="en-US" altLang="zh-CN" sz="2400"/>
              <a:t>      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哈希算法：又叫散列算法，将任意长度的二进制值映射为较短的固定长度的二进制值，这个小的二进制值称为哈希值。哈希值是一段数据唯一且极其紧凑的数值表示形式。如果散列一段明文而且哪怕只更改该段落的一个字母，随后的哈希都将产生不同的值。要找到散列为同一个值的两个不同的输入，在计算上是不可能的，所以数据的哈希值可以检验数据的完整性。一般用于快速查找和加密算法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          只有加密过程，没有解密过程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940" y="104140"/>
            <a:ext cx="7973695" cy="6602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ash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423545"/>
            <a:ext cx="4168775" cy="6010275"/>
          </a:xfrm>
          <a:prstGeom prst="rect">
            <a:avLst/>
          </a:prstGeom>
        </p:spPr>
      </p:pic>
      <p:pic>
        <p:nvPicPr>
          <p:cNvPr id="5" name="图片 4" descr="hash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570" y="423545"/>
            <a:ext cx="6134735" cy="600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二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算法特点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913130" y="1600200"/>
            <a:ext cx="10195560" cy="4526280"/>
          </a:xfrm>
        </p:spPr>
        <p:txBody>
          <a:bodyPr/>
          <a:p>
            <a:pPr algn="just"/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1.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正像快速：原始数据可以快速计算出哈希值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algn="just"/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2.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逆向困难：通过哈希值基本不可能推导出原始数据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algn="just"/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3.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输入敏感：原始数据只要有一点变动，得到的哈希值差别很大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algn="just"/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4.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冲突避免：很难找到两段内容不同的明文，使得它们的 hash 值一致             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		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（发生冲突）。即对于任意两个不同的数据块，其hash值相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		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同的可能性极小；对于一个给定的数据块，找到和它hash值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		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相同的数据块极为困难。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三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算法原理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>
                <a:sym typeface="+mn-ea"/>
              </a:rPr>
              <a:t>  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sym typeface="+mn-ea"/>
              </a:rPr>
              <a:t>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散列表（Hash table，也叫哈希表）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，它是基于快速存取的角度设计的，也是一种典型的“空间换时间”的做法。顾名思义，该数据结构可以理解为一个线性表，但是其中的元素不是紧密排列的，而是可能存在空隙。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散列表，是根据关键码值（Key value）而直接进行访问的数据结构。也就是说，它通过把关键码值映射到表中一个位置来访问记录，以加快查找的速度。这个映射函数叫做散列函数，存放记录的数组叫做散列表。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比如我们存储70个元素，但我们可能为这70个元素申请了100个元素的空间。70/100=0.7，这个数字称为负载因子。我们之所以这样做，也是为了“快速存取”的目的。我们基于一种结果尽可能随机平均分布的固定函数H为每个元素安排存储位置，这样就可以避免遍历性质的线性搜索，以达到快速存取。但是由于此随机性，也必然导致一个问题就是冲突。所谓冲突，即两个元素通过散列函数H得到的地址相同，那么这两个元素称为“同义词”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2110" y="742315"/>
            <a:ext cx="10972800" cy="541020"/>
          </a:xfrm>
        </p:spPr>
        <p:txBody>
          <a:bodyPr/>
          <a:p>
            <a:pPr algn="l"/>
            <a:r>
              <a:rPr lang="en-US" altLang="zh-CN" sz="4000">
                <a:latin typeface="楷体" panose="02010609060101010101" charset="-122"/>
                <a:ea typeface="楷体" panose="02010609060101010101" charset="-122"/>
                <a:sym typeface="+mn-ea"/>
              </a:rPr>
              <a:t>3.1</a:t>
            </a:r>
            <a:r>
              <a:rPr lang="zh-CN" altLang="en-US" sz="4000">
                <a:latin typeface="楷体" panose="02010609060101010101" charset="-122"/>
                <a:ea typeface="楷体" panose="02010609060101010101" charset="-122"/>
                <a:sym typeface="+mn-ea"/>
              </a:rPr>
              <a:t>常用的构造散列函数的方法</a:t>
            </a:r>
            <a:br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84960"/>
            <a:ext cx="10972800" cy="4525963"/>
          </a:xfrm>
        </p:spPr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散列函数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sym typeface="+mn-ea"/>
              </a:rPr>
              <a:t>(哈希函数或杂凑函数)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能使对一个数据序列的访问过程更加迅速有效，通过散列函数，数据元素将被更快地定位：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1. 直接寻址法：取关键字或关键字的某个线性函数值为散列地址。即H（key）=key或H（key） = a？key + b，其中a和b为常数（这种散列函数叫做自身函数）。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2. 数字分析法：分析一组数据，比如一组员工的出生年月日，这时我们发现出生年月日的前几位数字大体相同，这样的话，出现冲突的几率就会很大，但是我们发现年月日的后几位表示月份和具体日期的数字差别很大，如果用后面的数字来构成散列地址，则冲突的几率会明显降低。因此数字分析法就是找出数字的规律，尽可能利用这些数据来构造冲突几率较低的散列地址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sym typeface="+mn-ea"/>
              </a:rPr>
              <a:t>　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611505"/>
            <a:ext cx="10972800" cy="5514975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3.平方取中法：取关键字平方后的中间几位作为散列地址。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4. 折叠法：将关键字分割成位数相同的几部分，最后一部分位数可以不同，然后取这几部分的叠加和（去除进位）作为散列地址。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5. 随机数法：选择一随机函数，取关键字的随机值作为散列地址，通常用于关键字长度不同的场合。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6. 除留余数法：取关键字被某个不大于散列表表长m的数p除后所得的余数为散列地址。即 H（key） = key MOD p， p《=m。不仅可以对关键字直接取模，也可在折叠、平方取中等运算之后取模。对p的选择很重要，一般取素数或m，若p选的不好，容易产生同义词。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zh-CN" sz="4000">
                <a:latin typeface="楷体" panose="02010609060101010101" charset="-122"/>
                <a:ea typeface="楷体" panose="02010609060101010101" charset="-122"/>
              </a:rPr>
              <a:t>3.2 hash</a:t>
            </a:r>
            <a:r>
              <a:rPr lang="zh-CN" altLang="en-US" sz="4000">
                <a:latin typeface="楷体" panose="02010609060101010101" charset="-122"/>
                <a:ea typeface="楷体" panose="02010609060101010101" charset="-122"/>
              </a:rPr>
              <a:t>碰撞</a:t>
            </a:r>
            <a:endParaRPr lang="zh-CN" altLang="en-US" sz="4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hash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碰撞（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hash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冲突）主要取决于：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（1）散列函数，一个好的散列函数的值应尽可能平均分布。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（2）处理冲突方法。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（3）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装填因子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sym typeface="+mn-ea"/>
              </a:rPr>
              <a:t>(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负载因子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)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的大小。太大不一定就好，而且浪费空间严重，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	 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负载因子和散列函数是联动的。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marL="457200" lvl="1" indent="0">
              <a:buNone/>
            </a:pPr>
            <a:r>
              <a:rPr lang="zh-CN" altLang="en-US" sz="2100">
                <a:latin typeface="楷体" panose="02010609060101010101" charset="-122"/>
                <a:ea typeface="楷体" panose="02010609060101010101" charset="-122"/>
              </a:rPr>
              <a:t>      </a:t>
            </a:r>
            <a:endParaRPr lang="zh-CN" altLang="en-US" sz="2100">
              <a:latin typeface="楷体" panose="02010609060101010101" charset="-122"/>
              <a:ea typeface="楷体" panose="02010609060101010101" charset="-122"/>
            </a:endParaRPr>
          </a:p>
          <a:p>
            <a:pPr marL="457200" lvl="1" indent="0">
              <a:buNone/>
            </a:pPr>
            <a:r>
              <a:rPr lang="zh-CN" altLang="en-US" sz="2100">
                <a:latin typeface="楷体" panose="02010609060101010101" charset="-122"/>
                <a:ea typeface="楷体" panose="02010609060101010101" charset="-122"/>
              </a:rPr>
              <a:t> 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散列表的装填因子定义为：α= 填入表中的元素个数 / 散列表的长度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zh-CN" sz="4000">
                <a:latin typeface="楷体" panose="02010609060101010101" charset="-122"/>
                <a:ea typeface="楷体" panose="02010609060101010101" charset="-122"/>
                <a:sym typeface="+mn-ea"/>
              </a:rPr>
              <a:t>3.3 </a:t>
            </a:r>
            <a:r>
              <a:rPr lang="zh-CN" altLang="en-US" sz="4000">
                <a:latin typeface="楷体" panose="02010609060101010101" charset="-122"/>
                <a:ea typeface="楷体" panose="02010609060101010101" charset="-122"/>
                <a:sym typeface="+mn-ea"/>
              </a:rPr>
              <a:t>解决冲突的办法：</a:t>
            </a:r>
            <a:endParaRPr lang="zh-CN" altLang="en-US" sz="4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/>
              <a:t>　　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1.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开放定址法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这种方法也称再散列法，其基本思想是：当关键字key的哈希地址p=H（key）出现冲突时，以p为基础，产生另一个哈希地址p1，如果p1仍然冲突，再以p为基础，产生另一个哈希地址p2，…，直到找出一个不冲突的哈希地址pi ，将相应元素存入其中。这种方法有一个通用的再散列函数形式：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          Hi=（H（key）+di）% m   i=1，2，…，n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    其中H（key）为哈希函数，m 为表长，di称为增量序列。增量序列的取值方式不同，相应的再散列方式也不同。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2. 再哈希法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 这种方法是同时构造多个不同的哈希函数：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 Hi=RH1（key）  i=1，2，…，k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当哈希地址Hi=RH1（key）发生冲突时，再计算Hi=RH2（key）……，直到冲突不再产生。这种方法不易产生聚集，但增加了计算时间。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3.链地址法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 这种方法的基本思想是将所有哈希地址为i的元素构成一个称为同义词链的单链表，并将单链表的头指针存在哈希表的第i个单元中，因而查找、插入和删除主要在同义词链中进行。链地址法适用于经常进行插入和删除的情况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4.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建立公共溢出区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这种方法的基本思想是：将哈希表分为基本表和溢出表两部分，凡是和基本表发生冲突的元素，一律填入溢出表。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4000">
                <a:latin typeface="楷体" panose="02010609060101010101" charset="-122"/>
                <a:ea typeface="楷体" panose="02010609060101010101" charset="-122"/>
              </a:rPr>
              <a:t>示例</a:t>
            </a:r>
            <a:r>
              <a:rPr lang="en-US" altLang="zh-CN" sz="4000">
                <a:latin typeface="楷体" panose="02010609060101010101" charset="-122"/>
                <a:ea typeface="楷体" panose="02010609060101010101" charset="-122"/>
              </a:rPr>
              <a:t>:</a:t>
            </a:r>
            <a:r>
              <a:rPr lang="zh-CN" altLang="en-US" sz="4000">
                <a:latin typeface="楷体" panose="02010609060101010101" charset="-122"/>
                <a:ea typeface="楷体" panose="02010609060101010101" charset="-122"/>
              </a:rPr>
              <a:t>开放定址法</a:t>
            </a:r>
            <a:endParaRPr lang="zh-CN" altLang="en-US" sz="4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我们的关键字集合为{12,67,56,16,25,37,22,29,15,47,48,34},表长为12。 我们用散列函数f(key) = key mod l2  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当计算前S个数{12,67,56,16,25}时，都是没有冲突的散列地址，直接存入：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计算key = 37时，发现f(37) = 1，此时就与25所在的位置冲突。 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于是我们应用上面的公式f(37) = (f(37)+1) mod 12 = 2。于是将37存入下标为2的位置：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pic>
        <p:nvPicPr>
          <p:cNvPr id="4" name="图片 3" descr="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545" y="2954655"/>
            <a:ext cx="8550275" cy="949325"/>
          </a:xfrm>
          <a:prstGeom prst="rect">
            <a:avLst/>
          </a:prstGeom>
        </p:spPr>
      </p:pic>
      <p:pic>
        <p:nvPicPr>
          <p:cNvPr id="5" name="图片 4" descr="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80" y="5475605"/>
            <a:ext cx="8550275" cy="95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09600" y="659130"/>
            <a:ext cx="10972800" cy="627380"/>
          </a:xfrm>
        </p:spPr>
        <p:txBody>
          <a:bodyPr/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四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常见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</a:t>
            </a:r>
            <a:br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哈希算法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: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MD(Message Digest algorithm ，信息摘要算法)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     SHA(Secure Hash Algorithm，安全散列算法)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MD4 1990年 输出128位 （已经不安全）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MD4（RFC 1320）是 MIT 的 Ronald L. Rivest 在 1990 年设计的，MD 是 Message Digest 的缩写。它适用在32位字长的处理器上用高速软件实现--它是基于 32 位操作数的位操作来实现的。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MD5 1991年 输出128位 （已经不安全）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MD5（RFC 1321）是 Rivest 于1991年对MD4的改进版本。它对输入仍以512位分组，其输出是4个32位字的级联，与 MD4 相同。MD5比MD4来得复杂，并且速度较之要慢一点，但更安全，在抗分析和抗差分方面表现更好。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SHA-0 1993年 输出160位 （发布之后很快就被NSA撤回，是SHA-1的前身）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SHA-1 1995年 输出160位 （已经不安全）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  SHA1是由NIST NSA设计为同DSA一起使用的，它对长度小于264的输入，产生长度为160bit的散列值，因此抗穷举（brute-force）性更好。SHA-1 设计时基于和MD4相同原理，并且模仿了该算法。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SHA-2包括SHA-224、SHA-256、SHA-384，和 SHA-512，分别输出224、256、384、512位。 (目前安全)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五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sym typeface="+mn-ea"/>
              </a:rPr>
              <a:t>.hash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算法应用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Hash算法在信息安全方面的应用主要体现在以下的3个方面：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（1） 文件校验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我们比较熟悉的校验算法有奇偶校验和CRC校验，这2种校验并没有抗数据篡改的能力，它们一定程度上能检测并纠正数据传输中的信道误码，但却不能防止对数据的恶意破坏。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MD5 Hash算法的“数字指纹”特性，使它成为目前应用最广泛的一种文件完整性校验和（Checksum）算法，不少Unix系统有提供计算md5 checksum的命令。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400"/>
              <a:t>　　</a:t>
            </a:r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（2） 数字签名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　　Hash 算法也是现代密码体系中的一个重要组成部分。由于非对称算法的运算速度较慢，所以在数字签名协议中，单向散列函数扮演了一个重要的角色。 对 Hash 值，又称“数字摘要”进行数字签名，在统计上可以认为与对文件本身进行数字签名是等效的。而且这样的协议还有其他的优点。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（3） 鉴权协议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　　鉴权协议又被称作挑战--认证模式：在传输信道是可被侦听，但不可被篡改的情况下，是一种简单而安全的方法。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4000">
                <a:latin typeface="楷体" panose="02010609060101010101" charset="-122"/>
                <a:ea typeface="楷体" panose="02010609060101010101" charset="-122"/>
                <a:sym typeface="+mn-ea"/>
              </a:rPr>
              <a:t>示例</a:t>
            </a:r>
            <a:r>
              <a:rPr lang="en-US" altLang="zh-CN" sz="4000">
                <a:latin typeface="楷体" panose="02010609060101010101" charset="-122"/>
                <a:ea typeface="楷体" panose="02010609060101010101" charset="-122"/>
                <a:sym typeface="+mn-ea"/>
              </a:rPr>
              <a:t>:</a:t>
            </a:r>
            <a:r>
              <a:rPr lang="zh-CN" altLang="en-US" sz="4000">
                <a:latin typeface="楷体" panose="02010609060101010101" charset="-122"/>
                <a:ea typeface="楷体" panose="02010609060101010101" charset="-122"/>
                <a:sym typeface="+mn-ea"/>
              </a:rPr>
              <a:t>区块链与哈希算法</a:t>
            </a:r>
            <a:endParaRPr lang="zh-CN" altLang="en-US" sz="40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0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哈希算法是区块链中用的最多的一种算法，它被广泛的使用在构建区块和确认交易的完整性上。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比特币采用SHA256算法，该算法属于SHA-2系列，在中本聪发明比特币时（2008）被公认为最安全最先进的算法之一。除了生成地址中有一个环节使用了REPID-160算法，比特币系统中但凡有需要做Hash运算的地方都是用SHA256。到目前为止，没有公开的证据表明SHA256有漏洞，没有永远安全的算法，SHA256被替代是早晚的事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78560"/>
            <a:ext cx="10972800" cy="4947920"/>
          </a:xfrm>
        </p:spPr>
        <p:txBody>
          <a:bodyPr/>
          <a:p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2的256次方为1.1579208923731619542357098500869 × 10的77次方，也就是10的77次方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    宇宙中原子数大约在10的60次方到80次方之间，所以2的256次方有足够的空间容纳所有的可能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每个bit就是一位0或者1，256bit就是256个0或者1二进制数字串，用16进制数字表示的话，是多少位呢？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16等于2的4次方，所以每一位16进制数字可以代表4位bit。那么，256位bit用16进制数字表示，当然是256除以4等于64位。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   于是你通常看到的哈希值，就是这样的了：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sym typeface="+mn-ea"/>
              </a:rPr>
              <a:t>00740f40257a13bf03b40f54a9fe398c79a664bb21cfa2870ab07888b21eeba8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3350"/>
            <a:ext cx="10972800" cy="3900805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/>
          <a:p>
            <a:r>
              <a:rPr lang="en-US" altLang="zh-CN" sz="8800">
                <a:latin typeface="Microsoft YaHei UI" panose="020B0503020204020204" charset="-122"/>
                <a:ea typeface="Microsoft YaHei UI" panose="020B0503020204020204" charset="-122"/>
              </a:rPr>
              <a:t>Thanks</a:t>
            </a:r>
            <a:endParaRPr lang="en-US" altLang="zh-CN" sz="880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时间革命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 Rounded MT Bold"/>
        <a:ea typeface="黑体"/>
        <a:cs typeface=""/>
      </a:majorFont>
      <a:minorFont>
        <a:latin typeface="Arial Rounded MT Bold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4101</Words>
  <Application>WPS 演示</Application>
  <PresentationFormat>宽屏</PresentationFormat>
  <Paragraphs>135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Arial Rounded MT Bold</vt:lpstr>
      <vt:lpstr>黑体</vt:lpstr>
      <vt:lpstr>MS UI Gothic</vt:lpstr>
      <vt:lpstr>楷体</vt:lpstr>
      <vt:lpstr>微软雅黑</vt:lpstr>
      <vt:lpstr>Calibri</vt:lpstr>
      <vt:lpstr>Yu Gothic</vt:lpstr>
      <vt:lpstr>Microsoft YaHei UI</vt:lpstr>
      <vt:lpstr>时间革命</vt:lpstr>
      <vt:lpstr>熊雪威</vt:lpstr>
      <vt:lpstr>PowerPoint 演示文稿</vt:lpstr>
      <vt:lpstr>1.概念</vt:lpstr>
      <vt:lpstr>PowerPoint 演示文稿</vt:lpstr>
      <vt:lpstr>PowerPoint 演示文稿</vt:lpstr>
      <vt:lpstr>2.hash算法特点</vt:lpstr>
      <vt:lpstr>3.hash算法原理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5.hash算法应用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XXW</dc:creator>
  <cp:lastModifiedBy>XXW</cp:lastModifiedBy>
  <cp:revision>4</cp:revision>
  <dcterms:created xsi:type="dcterms:W3CDTF">2019-11-05T04:38:00Z</dcterms:created>
  <dcterms:modified xsi:type="dcterms:W3CDTF">2019-11-05T18:20:46Z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2052-10.1.0.6029</vt:lpwstr>
  </property>
</Properties>
</file>